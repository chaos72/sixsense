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0"/>
  </p:notesMasterIdLst>
  <p:sldIdLst>
    <p:sldId id="256" r:id="rId2"/>
    <p:sldId id="257" r:id="rId9"/>
    <p:sldId id="258" r:id="rId8"/>
    <p:sldId id="259" r:id="rId7"/>
    <p:sldId id="260" r:id="rId6"/>
    <p:sldId id="261" r:id="rId5"/>
    <p:sldId id="262" r:id="rId4"/>
    <p:sldId id="263" r:id="rId3"/>
    <p:sldId id="264" r:id="rId43"/>
    <p:sldId id="265" r:id="rId44"/>
    <p:sldId id="266" r:id="rId45"/>
    <p:sldId id="267" r:id="rId46"/>
    <p:sldId id="268" r:id="rId47"/>
    <p:sldId id="269" r:id="rId48"/>
    <p:sldId id="270" r:id="rId49"/>
    <p:sldId id="271" r:id="rId50"/>
    <p:sldId id="272" r:id="rId51"/>
    <p:sldId id="273" r:id="rId52"/>
    <p:sldId id="274" r:id="rId53"/>
    <p:sldId id="275" r:id="rId54"/>
    <p:sldId id="276" r:id="rId55"/>
    <p:sldId id="277" r:id="rId56"/>
    <p:sldId id="278" r:id="rId57"/>
    <p:sldId id="279" r:id="rId58"/>
    <p:sldId id="280" r:id="rId59"/>
    <p:sldId id="281" r:id="rId60"/>
    <p:sldId id="282" r:id="rId61"/>
    <p:sldId id="283" r:id="rId62"/>
  </p:sldIdLst>
  <p:sldSz cx="9144000" cy="5143500" type="screen16x9"/>
  <p:notesSz cx="6858000" cy="9144000"/>
  <p:embeddedFontLst>
    <p:embeddedFont>
      <p:font typeface="Nanum Gothic" panose="020D0604000000000000" pitchFamily="34" charset="-127"/>
      <p:regular r:id="rId11"/>
      <p:bold r:id="rId12"/>
    </p:embeddedFont>
    <p:embeddedFont>
      <p:font typeface="NanumGothic" panose="020D0604000000000000" pitchFamily="34" charset="-127"/>
      <p:regular r:id="rId13"/>
      <p:bold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Condensed" panose="02000000000000000000" pitchFamily="2" charset="0"/>
      <p:regular r:id="rId19"/>
      <p:bold r:id="rId20"/>
      <p:italic r:id="rId21"/>
      <p:boldItalic r:id="rId22"/>
    </p:embeddedFont>
    <p:embeddedFont>
      <p:font typeface="Roboto Condensed SemiBold" panose="020F0502020204030204" pitchFamily="34" charset="0"/>
      <p:regular r:id="rId23"/>
      <p:bold r:id="rId24"/>
      <p:italic r:id="rId25"/>
      <p:boldItalic r:id="rId26"/>
    </p:embeddedFont>
    <p:embeddedFont>
      <p:font typeface="Roboto Light" panose="02000000000000000000" pitchFamily="2" charset="0"/>
      <p:regular r:id="rId27"/>
      <p:bold r:id="rId28"/>
      <p:italic r:id="rId29"/>
      <p:boldItalic r:id="rId30"/>
    </p:embeddedFont>
    <p:embeddedFont>
      <p:font typeface="Source Sans Pro" panose="020B0503030403020204" pitchFamily="34" charset="0"/>
      <p:regular r:id="rId31"/>
      <p:bold r:id="rId32"/>
      <p:italic r:id="rId33"/>
      <p:boldItalic r:id="rId34"/>
    </p:embeddedFont>
    <p:embeddedFont>
      <p:font typeface="Spectral" pitchFamily="2" charset="77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B53219-5EC9-4020-8357-FDE5FFCF246B}">
  <a:tblStyle styleId="{44B53219-5EC9-4020-8357-FDE5FFCF24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85"/>
    <p:restoredTop sz="94564"/>
  </p:normalViewPr>
  <p:slideViewPr>
    <p:cSldViewPr snapToGrid="0" showGuides="1">
      <p:cViewPr varScale="1">
        <p:scale>
          <a:sx n="147" d="100"/>
          <a:sy n="147" d="100"/>
        </p:scale>
        <p:origin x="99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font" Target="fonts/font11.fntdata"/><Relationship Id="rId22" Type="http://schemas.openxmlformats.org/officeDocument/2006/relationships/font" Target="fonts/font12.fntdata"/><Relationship Id="rId23" Type="http://schemas.openxmlformats.org/officeDocument/2006/relationships/font" Target="fonts/font13.fntdata"/><Relationship Id="rId24" Type="http://schemas.openxmlformats.org/officeDocument/2006/relationships/font" Target="fonts/font14.fntdata"/><Relationship Id="rId25" Type="http://schemas.openxmlformats.org/officeDocument/2006/relationships/font" Target="fonts/font15.fntdata"/><Relationship Id="rId26" Type="http://schemas.openxmlformats.org/officeDocument/2006/relationships/font" Target="fonts/font16.fntdata"/><Relationship Id="rId27" Type="http://schemas.openxmlformats.org/officeDocument/2006/relationships/font" Target="fonts/font17.fntdata"/><Relationship Id="rId28" Type="http://schemas.openxmlformats.org/officeDocument/2006/relationships/font" Target="fonts/font18.fntdata"/><Relationship Id="rId29" Type="http://schemas.openxmlformats.org/officeDocument/2006/relationships/font" Target="fonts/font19.fntdata"/><Relationship Id="rId30" Type="http://schemas.openxmlformats.org/officeDocument/2006/relationships/font" Target="fonts/font20.fntdata"/><Relationship Id="rId31" Type="http://schemas.openxmlformats.org/officeDocument/2006/relationships/font" Target="fonts/font21.fntdata"/><Relationship Id="rId32" Type="http://schemas.openxmlformats.org/officeDocument/2006/relationships/font" Target="fonts/font22.fntdata"/><Relationship Id="rId33" Type="http://schemas.openxmlformats.org/officeDocument/2006/relationships/font" Target="fonts/font23.fntdata"/><Relationship Id="rId34" Type="http://schemas.openxmlformats.org/officeDocument/2006/relationships/font" Target="fonts/font24.fntdata"/><Relationship Id="rId35" Type="http://schemas.openxmlformats.org/officeDocument/2006/relationships/font" Target="fonts/font25.fntdata"/><Relationship Id="rId36" Type="http://schemas.openxmlformats.org/officeDocument/2006/relationships/font" Target="fonts/font26.fntdata"/><Relationship Id="rId37" Type="http://schemas.openxmlformats.org/officeDocument/2006/relationships/font" Target="fonts/font27.fntdata"/><Relationship Id="rId38" Type="http://schemas.openxmlformats.org/officeDocument/2006/relationships/font" Target="fonts/font28.fnt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9.xml"/><Relationship Id="rId44" Type="http://schemas.openxmlformats.org/officeDocument/2006/relationships/slide" Target="slides/slide10.xml"/><Relationship Id="rId45" Type="http://schemas.openxmlformats.org/officeDocument/2006/relationships/slide" Target="slides/slide11.xml"/><Relationship Id="rId46" Type="http://schemas.openxmlformats.org/officeDocument/2006/relationships/slide" Target="slides/slide12.xml"/><Relationship Id="rId47" Type="http://schemas.openxmlformats.org/officeDocument/2006/relationships/slide" Target="slides/slide13.xml"/><Relationship Id="rId48" Type="http://schemas.openxmlformats.org/officeDocument/2006/relationships/slide" Target="slides/slide14.xml"/><Relationship Id="rId49" Type="http://schemas.openxmlformats.org/officeDocument/2006/relationships/slide" Target="slides/slide15.xml"/><Relationship Id="rId50" Type="http://schemas.openxmlformats.org/officeDocument/2006/relationships/slide" Target="slides/slide16.xml"/><Relationship Id="rId51" Type="http://schemas.openxmlformats.org/officeDocument/2006/relationships/slide" Target="slides/slide17.xml"/><Relationship Id="rId52" Type="http://schemas.openxmlformats.org/officeDocument/2006/relationships/slide" Target="slides/slide18.xml"/><Relationship Id="rId53" Type="http://schemas.openxmlformats.org/officeDocument/2006/relationships/slide" Target="slides/slide19.xml"/><Relationship Id="rId54" Type="http://schemas.openxmlformats.org/officeDocument/2006/relationships/slide" Target="slides/slide20.xml"/><Relationship Id="rId55" Type="http://schemas.openxmlformats.org/officeDocument/2006/relationships/slide" Target="slides/slide21.xml"/><Relationship Id="rId56" Type="http://schemas.openxmlformats.org/officeDocument/2006/relationships/slide" Target="slides/slide22.xml"/><Relationship Id="rId57" Type="http://schemas.openxmlformats.org/officeDocument/2006/relationships/slide" Target="slides/slide23.xml"/><Relationship Id="rId58" Type="http://schemas.openxmlformats.org/officeDocument/2006/relationships/slide" Target="slides/slide24.xml"/><Relationship Id="rId59" Type="http://schemas.openxmlformats.org/officeDocument/2006/relationships/slide" Target="slides/slide25.xml"/><Relationship Id="rId60" Type="http://schemas.openxmlformats.org/officeDocument/2006/relationships/slide" Target="slides/slide26.xml"/><Relationship Id="rId61" Type="http://schemas.openxmlformats.org/officeDocument/2006/relationships/slide" Target="slides/slide27.xml"/><Relationship Id="rId62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dataiku.com/" TargetMode="External"/><Relationship Id="rId3" Type="http://schemas.openxmlformats.org/officeDocument/2006/relationships/hyperlink" Target="http://dataiku.com" TargetMode="External"/><Relationship Id="rId4" Type="http://schemas.openxmlformats.org/officeDocument/2006/relationships/hyperlink" Target="https://x.com/dataiku/" TargetMode="External"/><Relationship Id="rId5" Type="http://schemas.openxmlformats.org/officeDocument/2006/relationships/hyperlink" Target="https://www.linkedin.com/company/dataiku/" TargetMode="External"/><Relationship Id="rId6" Type="http://schemas.openxmlformats.org/officeDocument/2006/relationships/hyperlink" Target="https://www.youtube.com/channel/UCSMqVwPTmerMiCaL_zKRjBw/featured" TargetMode="External"/><Relationship Id="rId7" Type="http://schemas.openxmlformats.org/officeDocument/2006/relationships/hyperlink" Target="https://www.facebook.com/dataiku/" TargetMode="External"/><Relationship Id="rId8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- Blank_Dark">
  <p:cSld name="TITLE_1">
    <p:bg>
      <p:bgPr>
        <a:solidFill>
          <a:schemeClr val="lt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/>
        </p:nvSpPr>
        <p:spPr>
          <a:xfrm>
            <a:off x="360000" y="4925687"/>
            <a:ext cx="693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©2026 Dataiku Inc.</a:t>
            </a:r>
            <a:endParaRPr sz="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- Prez Cover">
  <p:cSld name="CUSTOM">
    <p:bg>
      <p:bgPr>
        <a:solidFill>
          <a:schemeClr val="lt2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60000" y="763901"/>
            <a:ext cx="6506100" cy="1835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 b="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 b="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 b="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 b="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 b="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 b="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 b="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360000" y="2785907"/>
            <a:ext cx="6506100" cy="5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5pPr>
            <a:lvl6pPr lvl="5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6pPr>
            <a:lvl7pPr lvl="6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/>
          <p:nvPr/>
        </p:nvSpPr>
        <p:spPr>
          <a:xfrm>
            <a:off x="360000" y="4925687"/>
            <a:ext cx="693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©2026 Dataiku Inc.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" name="Google Shape;29;p5" title="Group 214723410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0000" y="291600"/>
            <a:ext cx="1024799" cy="219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0;p5"/>
          <p:cNvCxnSpPr/>
          <p:nvPr/>
        </p:nvCxnSpPr>
        <p:spPr>
          <a:xfrm>
            <a:off x="172800" y="291600"/>
            <a:ext cx="0" cy="4722000"/>
          </a:xfrm>
          <a:prstGeom prst="straightConnector1">
            <a:avLst/>
          </a:prstGeom>
          <a:noFill/>
          <a:ln w="8675" cap="flat" cmpd="sng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1" name="Google Shape;31;p5" title="DKU_Illustration_Library_Illustration 2 copy.png"/>
          <p:cNvPicPr preferRelativeResize="0"/>
          <p:nvPr/>
        </p:nvPicPr>
        <p:blipFill rotWithShape="1">
          <a:blip r:embed="rId3">
            <a:alphaModFix/>
          </a:blip>
          <a:srcRect t="1980" r="16318" b="12286"/>
          <a:stretch/>
        </p:blipFill>
        <p:spPr>
          <a:xfrm>
            <a:off x="6722975" y="2663025"/>
            <a:ext cx="2421023" cy="248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- Prez Cover_Internal">
  <p:cSld name="CUSTOM_8_1">
    <p:bg>
      <p:bgPr>
        <a:solidFill>
          <a:schemeClr val="lt2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360000" y="763901"/>
            <a:ext cx="6506100" cy="1835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ubTitle" idx="1"/>
          </p:nvPr>
        </p:nvSpPr>
        <p:spPr>
          <a:xfrm>
            <a:off x="360000" y="2785907"/>
            <a:ext cx="6506100" cy="5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/>
          <p:nvPr/>
        </p:nvSpPr>
        <p:spPr>
          <a:xfrm>
            <a:off x="360000" y="4925687"/>
            <a:ext cx="693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©2026 Dataiku Inc.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/>
        </p:nvSpPr>
        <p:spPr>
          <a:xfrm>
            <a:off x="1152000" y="4925687"/>
            <a:ext cx="6150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[ Internal Only ]</a:t>
            </a:r>
            <a:endParaRPr sz="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" name="Google Shape;44;p7" title="Group 214723410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0000" y="291600"/>
            <a:ext cx="1024799" cy="219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" name="Google Shape;45;p7"/>
          <p:cNvCxnSpPr/>
          <p:nvPr/>
        </p:nvCxnSpPr>
        <p:spPr>
          <a:xfrm>
            <a:off x="172800" y="291600"/>
            <a:ext cx="0" cy="4722000"/>
          </a:xfrm>
          <a:prstGeom prst="straightConnector1">
            <a:avLst/>
          </a:prstGeom>
          <a:noFill/>
          <a:ln w="8675" cap="flat" cmpd="sng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6" name="Google Shape;46;p7" title="DKU_Illustration_Library_Illustration 2 copy.png"/>
          <p:cNvPicPr preferRelativeResize="0"/>
          <p:nvPr/>
        </p:nvPicPr>
        <p:blipFill rotWithShape="1">
          <a:blip r:embed="rId3">
            <a:alphaModFix/>
          </a:blip>
          <a:srcRect t="1980" r="16318" b="12286"/>
          <a:stretch/>
        </p:blipFill>
        <p:spPr>
          <a:xfrm>
            <a:off x="6722975" y="2663025"/>
            <a:ext cx="2421023" cy="248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- Prez Cover_Light_Internal">
  <p:cSld name="CUSTOM_8_1_1">
    <p:bg>
      <p:bgPr>
        <a:solidFill>
          <a:srgbClr val="FEFEF9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360000" y="763901"/>
            <a:ext cx="6506100" cy="1835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ubTitle" idx="1"/>
          </p:nvPr>
        </p:nvSpPr>
        <p:spPr>
          <a:xfrm>
            <a:off x="360000" y="2785907"/>
            <a:ext cx="6506100" cy="5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3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3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/>
          <p:nvPr/>
        </p:nvSpPr>
        <p:spPr>
          <a:xfrm>
            <a:off x="1152000" y="4925687"/>
            <a:ext cx="6150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 Internal Only ]</a:t>
            </a:r>
            <a:endParaRPr sz="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6978300" y="0"/>
            <a:ext cx="2165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" name="Google Shape;52;p8" title="Group 214723410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0000" y="291600"/>
            <a:ext cx="1024799" cy="219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53;p8"/>
          <p:cNvCxnSpPr/>
          <p:nvPr/>
        </p:nvCxnSpPr>
        <p:spPr>
          <a:xfrm>
            <a:off x="172800" y="291600"/>
            <a:ext cx="0" cy="4722000"/>
          </a:xfrm>
          <a:prstGeom prst="straightConnector1">
            <a:avLst/>
          </a:prstGeom>
          <a:noFill/>
          <a:ln w="86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4" name="Google Shape;54;p8" title="Frame 2147249935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2462" y="1568661"/>
            <a:ext cx="1497376" cy="2006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- Chapter title_Dark_Internal">
  <p:cSld name="CUSTOM_4_1_1">
    <p:bg>
      <p:bgPr>
        <a:solidFill>
          <a:schemeClr val="lt2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2505600" y="176400"/>
            <a:ext cx="5659500" cy="189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360000" y="176400"/>
            <a:ext cx="1234800" cy="471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444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Char char="●"/>
              <a:defRPr sz="34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8575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marL="2286000" lvl="4" indent="-28575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marL="2743200" lvl="5" indent="-273050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6pPr>
            <a:lvl7pPr marL="3200400" lvl="6" indent="-234950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349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349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2"/>
          </p:nvPr>
        </p:nvSpPr>
        <p:spPr>
          <a:xfrm>
            <a:off x="2505600" y="1872000"/>
            <a:ext cx="5659500" cy="5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5pPr>
            <a:lvl6pPr lvl="5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6pPr>
            <a:lvl7pPr lvl="6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74" name="Google Shape;74;p11" title="Plain (1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05602" y="4755986"/>
            <a:ext cx="252673" cy="2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1"/>
          <p:cNvSpPr txBox="1"/>
          <p:nvPr/>
        </p:nvSpPr>
        <p:spPr>
          <a:xfrm>
            <a:off x="360000" y="4925687"/>
            <a:ext cx="693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©2026 Dataiku Inc.</a:t>
            </a:r>
            <a:endParaRPr sz="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152000" y="4925687"/>
            <a:ext cx="6150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[ Internal Only ]</a:t>
            </a:r>
            <a:endParaRPr sz="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1"/>
          <p:cNvCxnSpPr/>
          <p:nvPr/>
        </p:nvCxnSpPr>
        <p:spPr>
          <a:xfrm>
            <a:off x="172800" y="291600"/>
            <a:ext cx="0" cy="4722000"/>
          </a:xfrm>
          <a:prstGeom prst="straightConnector1">
            <a:avLst/>
          </a:prstGeom>
          <a:noFill/>
          <a:ln w="8675" cap="flat" cmpd="sng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" name="Google Shape;78;p11"/>
          <p:cNvCxnSpPr/>
          <p:nvPr/>
        </p:nvCxnSpPr>
        <p:spPr>
          <a:xfrm>
            <a:off x="2331425" y="291600"/>
            <a:ext cx="0" cy="4722000"/>
          </a:xfrm>
          <a:prstGeom prst="straightConnector1">
            <a:avLst/>
          </a:prstGeom>
          <a:noFill/>
          <a:ln w="8675" cap="flat" cmpd="sng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- Chapter title_Light_Internal">
  <p:cSld name="CUSTOM_4_1_1_1">
    <p:bg>
      <p:bgPr>
        <a:solidFill>
          <a:schemeClr val="accen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2" title="Plain (1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05602" y="4755986"/>
            <a:ext cx="252673" cy="2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>
            <a:off x="2505600" y="176400"/>
            <a:ext cx="5659500" cy="189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>
            <a:off x="360000" y="176400"/>
            <a:ext cx="1234800" cy="471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444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2100">
              <a:spcBef>
                <a:spcPts val="6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85750">
              <a:spcBef>
                <a:spcPts val="60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60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73050">
              <a:spcBef>
                <a:spcPts val="300"/>
              </a:spcBef>
              <a:spcAft>
                <a:spcPts val="0"/>
              </a:spcAft>
              <a:buSzPts val="700"/>
              <a:buChar char="■"/>
              <a:defRPr/>
            </a:lvl6pPr>
            <a:lvl7pPr marL="3200400" lvl="6" indent="-234950">
              <a:spcBef>
                <a:spcPts val="300"/>
              </a:spcBef>
              <a:spcAft>
                <a:spcPts val="0"/>
              </a:spcAft>
              <a:buSzPts val="100"/>
              <a:buChar char="●"/>
              <a:defRPr/>
            </a:lvl7pPr>
            <a:lvl8pPr marL="3657600" lvl="7" indent="-234950">
              <a:spcBef>
                <a:spcPts val="0"/>
              </a:spcBef>
              <a:spcAft>
                <a:spcPts val="0"/>
              </a:spcAft>
              <a:buSzPts val="100"/>
              <a:buChar char="○"/>
              <a:defRPr/>
            </a:lvl8pPr>
            <a:lvl9pPr marL="4114800" lvl="8" indent="-234950">
              <a:spcBef>
                <a:spcPts val="0"/>
              </a:spcBef>
              <a:spcAft>
                <a:spcPts val="0"/>
              </a:spcAft>
              <a:buSzPts val="1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ubTitle" idx="2"/>
          </p:nvPr>
        </p:nvSpPr>
        <p:spPr>
          <a:xfrm>
            <a:off x="2505600" y="1872000"/>
            <a:ext cx="5659500" cy="5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spcBef>
                <a:spcPts val="60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60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60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60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84" name="Google Shape;84;p12"/>
          <p:cNvSpPr txBox="1"/>
          <p:nvPr/>
        </p:nvSpPr>
        <p:spPr>
          <a:xfrm>
            <a:off x="1152000" y="4925687"/>
            <a:ext cx="6150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 Internal Only ]</a:t>
            </a:r>
            <a:endParaRPr sz="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" name="Google Shape;85;p12"/>
          <p:cNvCxnSpPr/>
          <p:nvPr/>
        </p:nvCxnSpPr>
        <p:spPr>
          <a:xfrm>
            <a:off x="172800" y="291600"/>
            <a:ext cx="0" cy="4722000"/>
          </a:xfrm>
          <a:prstGeom prst="straightConnector1">
            <a:avLst/>
          </a:prstGeom>
          <a:noFill/>
          <a:ln w="8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86;p12"/>
          <p:cNvCxnSpPr/>
          <p:nvPr/>
        </p:nvCxnSpPr>
        <p:spPr>
          <a:xfrm>
            <a:off x="2331425" y="291600"/>
            <a:ext cx="0" cy="4722000"/>
          </a:xfrm>
          <a:prstGeom prst="straightConnector1">
            <a:avLst/>
          </a:prstGeom>
          <a:noFill/>
          <a:ln w="8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- Basic_w/o sub_Dark_Internal">
  <p:cSld name="CUSTOM_5_2_1">
    <p:bg>
      <p:bgPr>
        <a:solidFill>
          <a:schemeClr val="lt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360000" y="229125"/>
            <a:ext cx="8336700" cy="419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1152000" y="4925687"/>
            <a:ext cx="6150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[ Internal Only ]</a:t>
            </a:r>
            <a:endParaRPr sz="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60000" y="4925687"/>
            <a:ext cx="693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©2026 Dataiku Inc.</a:t>
            </a:r>
            <a:endParaRPr sz="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- Side_Light_Internal">
  <p:cSld name="CUSTOM_3_1_1">
    <p:bg>
      <p:bgPr>
        <a:solidFill>
          <a:srgbClr val="FEFEF9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title"/>
          </p:nvPr>
        </p:nvSpPr>
        <p:spPr>
          <a:xfrm>
            <a:off x="360000" y="1059600"/>
            <a:ext cx="3604200" cy="3024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p23"/>
          <p:cNvSpPr txBox="1"/>
          <p:nvPr/>
        </p:nvSpPr>
        <p:spPr>
          <a:xfrm>
            <a:off x="1152000" y="4925687"/>
            <a:ext cx="6150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 Internal Only ]</a:t>
            </a:r>
            <a:endParaRPr sz="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- Side_Dark_Internal">
  <p:cSld name="CUSTOM_3_1_1_1">
    <p:bg>
      <p:bgPr>
        <a:solidFill>
          <a:schemeClr val="lt2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xfrm>
            <a:off x="360000" y="1059600"/>
            <a:ext cx="3604200" cy="3024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4"/>
          <p:cNvSpPr txBox="1"/>
          <p:nvPr/>
        </p:nvSpPr>
        <p:spPr>
          <a:xfrm>
            <a:off x="1152000" y="4925687"/>
            <a:ext cx="6150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[ Internal Only ]</a:t>
            </a:r>
            <a:endParaRPr sz="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4"/>
          <p:cNvSpPr txBox="1"/>
          <p:nvPr/>
        </p:nvSpPr>
        <p:spPr>
          <a:xfrm>
            <a:off x="360000" y="4925687"/>
            <a:ext cx="693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©2026 Dataiku Inc.</a:t>
            </a:r>
            <a:endParaRPr sz="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- Side_Dark">
  <p:cSld name="4 - Side_Dark">
    <p:bg>
      <p:bgPr>
        <a:solidFill>
          <a:schemeClr val="lt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360000" y="1059600"/>
            <a:ext cx="3604200" cy="3024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9" name="Google Shape;119;p22"/>
          <p:cNvSpPr txBox="1"/>
          <p:nvPr/>
        </p:nvSpPr>
        <p:spPr>
          <a:xfrm>
            <a:off x="360000" y="4925688"/>
            <a:ext cx="6939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©2026 Dataiku Inc.</a:t>
            </a:r>
            <a:endParaRPr sz="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41349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- Basic_w/o sub_Light">
  <p:cSld name="4 - Basic_w/o sub_Ligh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360000" y="229126"/>
            <a:ext cx="8336700" cy="369332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2559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- Blank" type="title">
  <p:cSld name="0 - 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382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- Thank you">
  <p:cSld name="5 - Thank you">
    <p:bg>
      <p:bgPr>
        <a:solidFill>
          <a:schemeClr val="lt2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/>
          <p:nvPr/>
        </p:nvSpPr>
        <p:spPr>
          <a:xfrm>
            <a:off x="201350" y="4700550"/>
            <a:ext cx="983400" cy="443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" name="Google Shape;129;p25"/>
          <p:cNvCxnSpPr/>
          <p:nvPr/>
        </p:nvCxnSpPr>
        <p:spPr>
          <a:xfrm>
            <a:off x="0" y="4607950"/>
            <a:ext cx="9145500" cy="0"/>
          </a:xfrm>
          <a:prstGeom prst="straightConnector1">
            <a:avLst/>
          </a:prstGeom>
          <a:noFill/>
          <a:ln w="8675" cap="flat" cmpd="sng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25"/>
          <p:cNvSpPr txBox="1"/>
          <p:nvPr/>
        </p:nvSpPr>
        <p:spPr>
          <a:xfrm>
            <a:off x="1992796" y="4838824"/>
            <a:ext cx="920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ans Pro"/>
              <a:buNone/>
            </a:pPr>
            <a:r>
              <a:rPr lang="en" sz="800">
                <a:solidFill>
                  <a:srgbClr val="9DAEAD"/>
                </a:solidFill>
                <a:latin typeface="Roboto"/>
                <a:ea typeface="Roboto"/>
                <a:cs typeface="Roboto"/>
                <a:sym typeface="Roboto"/>
              </a:rPr>
              <a:t>©2026 Dataiku Inc.</a:t>
            </a:r>
            <a:endParaRPr sz="800">
              <a:solidFill>
                <a:srgbClr val="9DAEA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5">
            <a:hlinkClick r:id="rId2"/>
          </p:cNvPr>
          <p:cNvSpPr txBox="1"/>
          <p:nvPr/>
        </p:nvSpPr>
        <p:spPr>
          <a:xfrm>
            <a:off x="3032839" y="4838824"/>
            <a:ext cx="729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9DAEAD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dataiku.com</a:t>
            </a:r>
            <a:endParaRPr sz="800" u="sng">
              <a:solidFill>
                <a:srgbClr val="9DAEA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" name="Google Shape;132;p25"/>
          <p:cNvCxnSpPr/>
          <p:nvPr/>
        </p:nvCxnSpPr>
        <p:spPr>
          <a:xfrm>
            <a:off x="2973168" y="4844524"/>
            <a:ext cx="0" cy="111600"/>
          </a:xfrm>
          <a:prstGeom prst="straightConnector1">
            <a:avLst/>
          </a:prstGeom>
          <a:noFill/>
          <a:ln w="8675" cap="flat" cmpd="sng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" name="Google Shape;133;p25"/>
          <p:cNvSpPr txBox="1"/>
          <p:nvPr/>
        </p:nvSpPr>
        <p:spPr>
          <a:xfrm>
            <a:off x="3881782" y="4838824"/>
            <a:ext cx="119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DAEAD"/>
                </a:solidFill>
                <a:latin typeface="Roboto"/>
                <a:ea typeface="Roboto"/>
                <a:cs typeface="Roboto"/>
                <a:sym typeface="Roboto"/>
              </a:rPr>
              <a:t>contact@dataiku.com</a:t>
            </a:r>
            <a:endParaRPr sz="800">
              <a:solidFill>
                <a:srgbClr val="9DAEA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4" name="Google Shape;134;p25"/>
          <p:cNvCxnSpPr/>
          <p:nvPr/>
        </p:nvCxnSpPr>
        <p:spPr>
          <a:xfrm>
            <a:off x="3822111" y="4844524"/>
            <a:ext cx="0" cy="111600"/>
          </a:xfrm>
          <a:prstGeom prst="straightConnector1">
            <a:avLst/>
          </a:prstGeom>
          <a:noFill/>
          <a:ln w="8675" cap="flat" cmpd="sng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" name="Google Shape;135;p25"/>
          <p:cNvCxnSpPr/>
          <p:nvPr/>
        </p:nvCxnSpPr>
        <p:spPr>
          <a:xfrm>
            <a:off x="5139954" y="4844524"/>
            <a:ext cx="0" cy="111600"/>
          </a:xfrm>
          <a:prstGeom prst="straightConnector1">
            <a:avLst/>
          </a:prstGeom>
          <a:noFill/>
          <a:ln w="8675" cap="flat" cmpd="sng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25">
            <a:hlinkClick r:id="rId4"/>
          </p:cNvPr>
          <p:cNvSpPr txBox="1"/>
          <p:nvPr/>
        </p:nvSpPr>
        <p:spPr>
          <a:xfrm>
            <a:off x="5199626" y="4838825"/>
            <a:ext cx="253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9DAEAD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sz="800" u="sng">
              <a:solidFill>
                <a:srgbClr val="9DAEA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5">
            <a:hlinkClick r:id="rId5"/>
          </p:cNvPr>
          <p:cNvSpPr txBox="1"/>
          <p:nvPr/>
        </p:nvSpPr>
        <p:spPr>
          <a:xfrm>
            <a:off x="5478824" y="4838825"/>
            <a:ext cx="537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9DAEAD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sz="800" u="sng">
              <a:solidFill>
                <a:srgbClr val="9DAEA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5">
            <a:hlinkClick r:id="rId6"/>
          </p:cNvPr>
          <p:cNvSpPr txBox="1"/>
          <p:nvPr/>
        </p:nvSpPr>
        <p:spPr>
          <a:xfrm>
            <a:off x="6046421" y="4838825"/>
            <a:ext cx="537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9DAEAD"/>
                </a:solid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</a:t>
            </a:r>
            <a:endParaRPr sz="800" u="sng">
              <a:solidFill>
                <a:srgbClr val="9DAEA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5">
            <a:hlinkClick r:id="rId7"/>
          </p:cNvPr>
          <p:cNvSpPr txBox="1"/>
          <p:nvPr/>
        </p:nvSpPr>
        <p:spPr>
          <a:xfrm>
            <a:off x="6614018" y="4838825"/>
            <a:ext cx="537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9DAEAD"/>
                </a:solidFill>
                <a:latin typeface="Roboto"/>
                <a:ea typeface="Roboto"/>
                <a:cs typeface="Roboto"/>
                <a:sym typeface="Roboto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Facebook</a:t>
            </a:r>
            <a:endParaRPr sz="800" u="sng">
              <a:solidFill>
                <a:srgbClr val="9DAEA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0" name="Google Shape;140;p25" title="Group 2147234107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14263" y="370246"/>
            <a:ext cx="1115474" cy="23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 title="Group 2147234092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0800000">
            <a:off x="3935367" y="2804350"/>
            <a:ext cx="1273266" cy="1803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548850" y="1378800"/>
            <a:ext cx="8046300" cy="2000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44707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EFEF9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6000" y="229125"/>
            <a:ext cx="85206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"/>
              <a:buNone/>
              <a:defRPr sz="2200" b="1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"/>
              <a:buNone/>
              <a:defRPr sz="2200" b="1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"/>
              <a:buNone/>
              <a:defRPr sz="2200" b="1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"/>
              <a:buNone/>
              <a:defRPr sz="2200" b="1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"/>
              <a:buNone/>
              <a:defRPr sz="2200" b="1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"/>
              <a:buNone/>
              <a:defRPr sz="2200" b="1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"/>
              <a:buNone/>
              <a:defRPr sz="2200" b="1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"/>
              <a:buNone/>
              <a:defRPr sz="2200" b="1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"/>
              <a:buNone/>
              <a:defRPr sz="2200" b="1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96000" y="1073525"/>
            <a:ext cx="8382300" cy="30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0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anum Gothic"/>
              <a:buChar char="●"/>
              <a:defRPr sz="1200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1pPr>
            <a:lvl2pPr marL="914400" lvl="1" indent="-29845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anum Gothic"/>
              <a:buChar char="○"/>
              <a:defRPr sz="1100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2pPr>
            <a:lvl3pPr marL="1371600" lvl="2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anum Gothic"/>
              <a:buChar char="■"/>
              <a:defRPr sz="1000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3pPr>
            <a:lvl4pPr marL="1828800" lvl="3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anum Gothic"/>
              <a:buChar char="●"/>
              <a:defRPr sz="900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4pPr>
            <a:lvl5pPr marL="2286000" lvl="4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anum Gothic"/>
              <a:buChar char="○"/>
              <a:defRPr sz="900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5pPr>
            <a:lvl6pPr marL="2743200" lvl="5" indent="-27305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anum Gothic"/>
              <a:buChar char="■"/>
              <a:defRPr sz="700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6pPr>
            <a:lvl7pPr marL="3200400" lvl="6" indent="-23495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"/>
              <a:buFont typeface="Nanum Gothic"/>
              <a:buChar char="●"/>
              <a:defRPr sz="100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7pPr>
            <a:lvl8pPr marL="3657600" lvl="7" indent="-234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Nanum Gothic"/>
              <a:buChar char="○"/>
              <a:defRPr sz="100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8pPr>
            <a:lvl9pPr marL="4114800" lvl="8" indent="-234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Nanum Gothic"/>
              <a:buChar char="■"/>
              <a:defRPr sz="100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/>
          <p:nvPr/>
        </p:nvSpPr>
        <p:spPr>
          <a:xfrm>
            <a:off x="360000" y="4925687"/>
            <a:ext cx="693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©2026 Dataiku Inc.</a:t>
            </a:r>
            <a:endParaRPr sz="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7" r:id="rId5"/>
    <p:sldLayoutId id="2147483658" r:id="rId6"/>
    <p:sldLayoutId id="2147483662" r:id="rId7"/>
    <p:sldLayoutId id="2147483669" r:id="rId8"/>
    <p:sldLayoutId id="2147483670" r:id="rId9"/>
    <p:sldLayoutId id="2147483673" r:id="rId10"/>
    <p:sldLayoutId id="2147483675" r:id="rId11"/>
    <p:sldLayoutId id="2147483676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Sixsense 바이브 코딩 가이드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3483969"/>
            <a:ext cx="6506100" cy="895630"/>
          </a:xfrm>
        </p:spPr>
        <p:txBody>
          <a:bodyPr/>
          <a:lstStyle/>
          <a:p>
            <a:pPr marL="0" indent="0">
              <a:spcAft>
                <a:spcPts val="600"/>
              </a:spcAft>
            </a:pPr>
            <a:r>
              <a:rPr lang="en-KR" sz="1200" b="1" dirty="0"/>
              <a:t>2026.05.25</a:t>
            </a:r>
          </a:p>
          <a:p>
            <a:pPr marL="0" indent="0">
              <a:spcAft>
                <a:spcPts val="600"/>
              </a:spcAft>
            </a:pPr>
            <a:r>
              <a:rPr sz="1200" b="1" dirty="0" err="1"/>
              <a:t>김영석 (KAIST CAIO 10기 6조)</a:t>
            </a:r>
            <a:r>
              <a:rPr sz="1200" b="1" dirty="0"/>
              <a:t/>
            </a:r>
            <a:endParaRPr lang="en-US" sz="1200" b="1" dirty="0"/>
          </a:p>
          <a:p>
            <a:pPr marL="0" indent="0">
              <a:spcAft>
                <a:spcPts val="600"/>
              </a:spcAft>
            </a:pPr>
            <a:r>
              <a:rPr sz="1200" b="1" dirty="0"/>
              <a:t>Dataiku Korea / Sr. Solution Engineer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54DADD-1575-9F64-07E5-4E5EE60631CF}"/>
              </a:ext>
            </a:extLst>
          </p:cNvPr>
          <p:cNvSpPr txBox="1"/>
          <p:nvPr/>
        </p:nvSpPr>
        <p:spPr>
          <a:xfrm>
            <a:off x="117566" y="2663335"/>
            <a:ext cx="8869680" cy="3462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anum Gothic"/>
              <a:buNone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3EDAB2"/>
                </a:solidFill>
                <a:effectLst/>
                <a:uLnTx/>
                <a:uFillTx/>
                <a:latin typeface="NanumGothic"/>
                <a:ea typeface="NanumGothic"/>
                <a:sym typeface="Nanum Gothic"/>
              </a:rPr>
              <a:t>비전문가도 따라할 수 있는 AI 데이터 대시보드 완성 매뉴얼</a:t>
            </a: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solidFill>
                  <a:srgbClr val="3EDAB2"/>
                </a:solidFill>
                <a:effectLst/>
                <a:uLnTx/>
                <a:uFillTx/>
                <a:latin typeface="NanumGothic"/>
                <a:ea typeface="NanumGothic"/>
                <a:sym typeface="Nanum Gothic"/>
              </a:rPr>
              <a:t/>
            </a: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3EDAB2"/>
                </a:solidFill>
                <a:effectLst/>
                <a:uLnTx/>
                <a:uFillTx/>
                <a:latin typeface="NanumGothic"/>
                <a:ea typeface="NanumGothic"/>
                <a:sym typeface="Nanum Gothic"/>
              </a:rPr>
              <a:t/>
            </a: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solidFill>
                  <a:srgbClr val="3EDAB2"/>
                </a:solidFill>
                <a:effectLst/>
                <a:uLnTx/>
                <a:uFillTx/>
                <a:latin typeface="NanumGothic"/>
                <a:ea typeface="NanumGothic"/>
                <a:sym typeface="Nanum Gothic"/>
              </a:rPr>
              <a:t/>
            </a: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3EDAB2"/>
                </a:solidFill>
                <a:effectLst/>
                <a:uLnTx/>
                <a:uFillTx/>
                <a:latin typeface="NanumGothic"/>
                <a:ea typeface="NanumGothic"/>
                <a:sym typeface="Nanum Gothic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84" y="548640"/>
            <a:ext cx="2020824" cy="429768"/>
          </a:xfrm>
        </p:spPr>
        <p:txBody>
          <a:bodyPr/>
          <a:lstStyle/>
          <a:p>
            <a:pPr algn="l"/>
            <a:r>
              <a:rPr sz="2800">
                <a:solidFill>
                  <a:srgbClr val="FFFFFF"/>
                </a:solidFill>
                <a:latin typeface="NanumGothic"/>
              </a:rPr>
              <a:t>Agenda - Step 1-5 (전체 12 섹션)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19272" y="548640"/>
            <a:ext cx="5824728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319272" y="685800"/>
            <a:ext cx="576072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3EDAB2"/>
                </a:solidFill>
                <a:latin typeface="NanumGothic"/>
              </a:rPr>
              <a:t>01    </a:t>
            </a:r>
            <a:r>
              <a:rPr sz="1500" b="1">
                <a:solidFill>
                  <a:srgbClr val="FFFFFF"/>
                </a:solidFill>
                <a:latin typeface="NanumGothic"/>
              </a:rPr>
              <a:t>시작 전 준비 - 도구 설치와 환경 구성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19272" y="1234440"/>
            <a:ext cx="5824728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319272" y="1371600"/>
            <a:ext cx="576072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3EDAB2"/>
                </a:solidFill>
                <a:latin typeface="NanumGothic"/>
              </a:rPr>
              <a:t>02    </a:t>
            </a:r>
            <a:r>
              <a:rPr sz="1500" b="1">
                <a:solidFill>
                  <a:srgbClr val="FFFFFF"/>
                </a:solidFill>
                <a:latin typeface="NanumGothic"/>
              </a:rPr>
              <a:t>PRD 작성 - 요구사항을 한 문서로 응축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19272" y="1929384"/>
            <a:ext cx="5824728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19272" y="2066543"/>
            <a:ext cx="576072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3EDAB2"/>
                </a:solidFill>
                <a:latin typeface="NanumGothic"/>
              </a:rPr>
              <a:t>03    </a:t>
            </a:r>
            <a:r>
              <a:rPr sz="1500" b="1">
                <a:solidFill>
                  <a:srgbClr val="FFFFFF"/>
                </a:solidFill>
                <a:latin typeface="NanumGothic"/>
              </a:rPr>
              <a:t>UI 디자인 - Claude Design Hand-off 받기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19272" y="2670048"/>
            <a:ext cx="5824728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19272" y="2807208"/>
            <a:ext cx="576072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3EDAB2"/>
                </a:solidFill>
                <a:latin typeface="NanumGothic"/>
              </a:rPr>
              <a:t>04    </a:t>
            </a:r>
            <a:r>
              <a:rPr sz="1500" b="1">
                <a:solidFill>
                  <a:srgbClr val="FFFFFF"/>
                </a:solidFill>
                <a:latin typeface="NanumGothic"/>
              </a:rPr>
              <a:t>React 포팅 - Hand-off를 그대로 코드로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19272" y="3346704"/>
            <a:ext cx="5824728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19272" y="3483864"/>
            <a:ext cx="576072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3EDAB2"/>
                </a:solidFill>
                <a:latin typeface="NanumGothic"/>
              </a:rPr>
              <a:t>05    </a:t>
            </a:r>
            <a:r>
              <a:rPr sz="1500" b="1">
                <a:solidFill>
                  <a:srgbClr val="FFFFFF"/>
                </a:solidFill>
                <a:latin typeface="NanumGothic"/>
              </a:rPr>
              <a:t>데이터 수집 - 21개 실데이터 신호 자동화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4032504"/>
            <a:ext cx="6766560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746504"/>
            <a:ext cx="7955279" cy="365760"/>
          </a:xfrm>
        </p:spPr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NanumGothic"/>
              </a:rPr>
              <a:t>01.  시작 전 준비 - 도구 설치와 환경 구성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2221992"/>
            <a:ext cx="5724144" cy="832104"/>
          </a:xfrm>
        </p:spPr>
        <p:txBody>
          <a:bodyPr/>
          <a:lstStyle/>
          <a:p>
            <a:pPr algn="l"/>
            <a:r>
              <a:rPr sz="1500">
                <a:solidFill>
                  <a:srgbClr val="3EDAB2"/>
                </a:solidFill>
                <a:latin typeface="NanumGothic"/>
              </a:rPr>
              <a:t>필요한 도구 설치와 작업 환경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056" y="228600"/>
            <a:ext cx="8257031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anumGothic"/>
              </a:rPr>
              <a:t>Step 1. 시작 전 준비 - 30분 안에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557784"/>
            <a:ext cx="8257031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NanumGothic"/>
              </a:rPr>
              <a:t>macOS 기준. Windows는 WSL2 또는 Git Bash 권장.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77824"/>
            <a:ext cx="8686800" cy="3904487"/>
          </a:xfrm>
          <a:prstGeom prst="rect">
            <a:avLst/>
          </a:prstGeom>
          <a:solidFill>
            <a:srgbClr val="F9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92440" cy="3474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필수 도구: macOS + Homebrew + Node 18 이상 + Python 3.9 이상 + Git</a:t>
            </a:r>
          </a:p>
          <a:p>
            <a:pPr algn="l" lvl="1">
              <a:lnSpc>
                <a:spcPct val="140000"/>
              </a:lnSpc>
            </a:pPr>
            <a:r>
              <a:rPr sz="1100" b="0">
                <a:solidFill>
                  <a:srgbClr val="221C35"/>
                </a:solidFill>
                <a:latin typeface="NanumGothic"/>
              </a:rPr>
              <a:t>    –  brew install node python@3.11 git gh — 한 줄로 모두 설치</a:t>
            </a:r>
          </a:p>
          <a:p>
            <a:pPr algn="l" lvl="1">
              <a:lnSpc>
                <a:spcPct val="140000"/>
              </a:lnSpc>
            </a:pPr>
            <a:r>
              <a:rPr sz="1100" b="0">
                <a:solidFill>
                  <a:srgbClr val="221C35"/>
                </a:solidFill>
                <a:latin typeface="NanumGothic"/>
              </a:rPr>
              <a:t>    –  VS Code 또는 Cursor (코드 편집기) 설치 — code.visualstudio.com</a:t>
            </a:r>
          </a:p>
          <a:p>
            <a:pPr algn="l" lvl="1">
              <a:lnSpc>
                <a:spcPct val="140000"/>
              </a:lnSpc>
            </a:pPr>
            <a:r>
              <a:rPr sz="1100" b="0">
                <a:solidFill>
                  <a:srgbClr val="221C35"/>
                </a:solidFill>
                <a:latin typeface="NanumGothic"/>
              </a:rPr>
              <a:t>    –  Claude Code CLI 설치 — claude.ai/download 또는 npm i -g @anthropic-ai/claude-code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프로젝트 폴더 생성: mkdir my-project &amp;&amp; cd my-project &amp;&amp; git init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.env 파일 미리 생성 + .gitignore 에 .env 추가 (절대 키를 commit 하지 말 것)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검증: node -v / python3 -V / git --version 모두 출력되면 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746504"/>
            <a:ext cx="7955279" cy="365760"/>
          </a:xfrm>
        </p:spPr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NanumGothic"/>
              </a:rPr>
              <a:t>02.  PRD 작성 - 요구사항을 한 문서로 응축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2221992"/>
            <a:ext cx="5724144" cy="832104"/>
          </a:xfrm>
        </p:spPr>
        <p:txBody>
          <a:bodyPr/>
          <a:lstStyle/>
          <a:p>
            <a:pPr algn="l"/>
            <a:r>
              <a:rPr sz="1500">
                <a:solidFill>
                  <a:srgbClr val="3EDAB2"/>
                </a:solidFill>
                <a:latin typeface="NanumGothic"/>
              </a:rPr>
              <a:t>만들 앱의 요구사항을 한 문서로 응축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056" y="228600"/>
            <a:ext cx="8257031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anumGothic"/>
              </a:rPr>
              <a:t>Step 2. PRD 작성 - 2~3시간으로 전체 그림 완성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557784"/>
            <a:ext cx="8257031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NanumGothic"/>
              </a:rPr>
              <a:t>좋은 PRD = 다른 사람이 읽고 5분 안에 무엇을 만들지 이해 가능.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77824"/>
            <a:ext cx="8686800" cy="3904487"/>
          </a:xfrm>
          <a:prstGeom prst="rect">
            <a:avLst/>
          </a:prstGeom>
          <a:solidFill>
            <a:srgbClr val="F9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92440" cy="3474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도구: Claude (대화형) - prd.md 마크다운 파일로 작성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필수 18 섹션: 한 줄 정의 / 페르소나 3명 / 핵심 가치 5가지 / 화면 14개 / 데이터 신호 / 위험</a:t>
            </a:r>
          </a:p>
          <a:p>
            <a:pPr algn="l" lvl="1">
              <a:lnSpc>
                <a:spcPct val="140000"/>
              </a:lnSpc>
            </a:pPr>
            <a:r>
              <a:rPr sz="1100" b="0">
                <a:solidFill>
                  <a:srgbClr val="221C35"/>
                </a:solidFill>
                <a:latin typeface="NanumGothic"/>
              </a:rPr>
              <a:t>    –  한 줄 정의: 무엇을 누구에게 왜 제공하는가</a:t>
            </a:r>
          </a:p>
          <a:p>
            <a:pPr algn="l" lvl="1">
              <a:lnSpc>
                <a:spcPct val="140000"/>
              </a:lnSpc>
            </a:pPr>
            <a:r>
              <a:rPr sz="1100" b="0">
                <a:solidFill>
                  <a:srgbClr val="221C35"/>
                </a:solidFill>
                <a:latin typeface="NanumGothic"/>
              </a:rPr>
              <a:t>    –  페르소나: 사용자 3 종류 + 각 페르소나의 핵심 니즈 1가지</a:t>
            </a:r>
          </a:p>
          <a:p>
            <a:pPr algn="l" lvl="1">
              <a:lnSpc>
                <a:spcPct val="140000"/>
              </a:lnSpc>
            </a:pPr>
            <a:r>
              <a:rPr sz="1100" b="0">
                <a:solidFill>
                  <a:srgbClr val="221C35"/>
                </a:solidFill>
                <a:latin typeface="NanumGothic"/>
              </a:rPr>
              <a:t>    –  핵심 가치: 차별화 포인트 5가지 (자동화 / 정확도 / 설명가능성 등)</a:t>
            </a:r>
          </a:p>
          <a:p>
            <a:pPr algn="l" lvl="1">
              <a:lnSpc>
                <a:spcPct val="140000"/>
              </a:lnSpc>
            </a:pPr>
            <a:r>
              <a:rPr sz="1100" b="0">
                <a:solidFill>
                  <a:srgbClr val="221C35"/>
                </a:solidFill>
                <a:latin typeface="NanumGothic"/>
              </a:rPr>
              <a:t>    –  화면 목록: 메인 1 + 모달/상세 13 = 약 14개 (도메인에 따라 조정)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검증: 다른 사람이 읽고 5분 안에 화면 구성을 머릿속에 그릴 수 있는가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팁: 한 번에 완벽하게 쓰지 말고, 2~3회 Claude와 대화하며 보완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746504"/>
            <a:ext cx="7955279" cy="365760"/>
          </a:xfrm>
        </p:spPr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NanumGothic"/>
              </a:rPr>
              <a:t>03.  UI 디자인 - Claude Design Hand-off 받기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2221992"/>
            <a:ext cx="5724144" cy="832104"/>
          </a:xfrm>
        </p:spPr>
        <p:txBody>
          <a:bodyPr/>
          <a:lstStyle/>
          <a:p>
            <a:pPr algn="l"/>
            <a:r>
              <a:rPr sz="1500">
                <a:solidFill>
                  <a:srgbClr val="3EDAB2"/>
                </a:solidFill>
                <a:latin typeface="NanumGothic"/>
              </a:rPr>
              <a:t>Claude Design 또는 Figma로 hifi UI 받기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056" y="228600"/>
            <a:ext cx="8257031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anumGothic"/>
              </a:rPr>
              <a:t>Step 3. UI 디자인 - 하루 안에 14화면 완성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557784"/>
            <a:ext cx="8257031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NanumGothic"/>
              </a:rPr>
              <a:t>이 단계의 결과물이 모든 후속 작업의 단일 진실원(SSOT)이 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77824"/>
            <a:ext cx="8686800" cy="3904487"/>
          </a:xfrm>
          <a:prstGeom prst="rect">
            <a:avLst/>
          </a:prstGeom>
          <a:solidFill>
            <a:srgbClr val="F9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92440" cy="3474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도구 1순위: Claude Design (claude.com/design) — PRD 첨부 + 한 번에 14화면 hifi 생성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도구 대안: Vercel v0 / Figma Make / Lovable - 모두 React 코드 출력 가능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프롬프트 예: PRD를 첨부하고 14화면 hifi 디자인, 한국어, 다크/라이트 모드 토글 포함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산출물: hand-off 패키지 (jsx/css/data.js mock 데이터까지 포함)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보관: design_handoff_&lt;project&gt;/ 폴더에 통째로 - 향후 SSOT 역할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절대 금지: 받은 hand-off UI를 절대 다시 만들지 말 것 (가장 흔한 실수)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검증: hand-off의 mock 데이터로 14화면이 클릭 가능한지 미리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746504"/>
            <a:ext cx="7955279" cy="365760"/>
          </a:xfrm>
        </p:spPr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NanumGothic"/>
              </a:rPr>
              <a:t>04.  React 포팅 - Hand-off를 그대로 코드로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2221992"/>
            <a:ext cx="5724144" cy="832104"/>
          </a:xfrm>
        </p:spPr>
        <p:txBody>
          <a:bodyPr/>
          <a:lstStyle/>
          <a:p>
            <a:pPr algn="l"/>
            <a:r>
              <a:rPr sz="1500">
                <a:solidFill>
                  <a:srgbClr val="3EDAB2"/>
                </a:solidFill>
                <a:latin typeface="NanumGothic"/>
              </a:rPr>
              <a:t>Hand-off 패키지를 실행 가능한 React 앱으로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056" y="228600"/>
            <a:ext cx="8257031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anumGothic"/>
              </a:rPr>
              <a:t>Step 4. React 포팅 - 30분에서 1시간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557784"/>
            <a:ext cx="8257031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NanumGothic"/>
              </a:rPr>
              <a:t>hand-off 코드를 그대로 옮기고 npm install + npm run dev 만 실행.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77824"/>
            <a:ext cx="8686800" cy="3904487"/>
          </a:xfrm>
          <a:prstGeom prst="rect">
            <a:avLst/>
          </a:prstGeom>
          <a:solidFill>
            <a:srgbClr val="F9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92440" cy="3474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초기화: npm create vite@latest frontend -- --template react-ts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복사: cp -r design_handoff/src/* frontend/src/ — hand-off의 src 통째로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의존성 설치: cd frontend &amp;&amp; npm install (~30초)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실행: npm run dev — http://localhost:5173 자동 열림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검증: 14화면 모두 클릭 가능 + mock 데이터 표시 + 다크 모드 토글 작동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절대 금지: hand-off CSS 토큰/컴포넌트 임의 변경 — 사용자 명시 요청 시만 확장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팁: 신규 컴포넌트가 필요하면 hand-off의 디자인 토큰(card/ai-note/dlabel)만 조합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746504"/>
            <a:ext cx="7955279" cy="365760"/>
          </a:xfrm>
        </p:spPr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NanumGothic"/>
              </a:rPr>
              <a:t>05.  데이터 수집 - 21개 실데이터 신호 자동화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2221992"/>
            <a:ext cx="5724144" cy="832104"/>
          </a:xfrm>
        </p:spPr>
        <p:txBody>
          <a:bodyPr/>
          <a:lstStyle/>
          <a:p>
            <a:pPr algn="l"/>
            <a:r>
              <a:rPr sz="1500">
                <a:solidFill>
                  <a:srgbClr val="3EDAB2"/>
                </a:solidFill>
                <a:latin typeface="NanumGothic"/>
              </a:rPr>
              <a:t>21개 실데이터 신호를 자동으로 매주 갱신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056" y="228600"/>
            <a:ext cx="8257031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anumGothic"/>
              </a:rPr>
              <a:t>Step 5. 데이터 수집 - 2~3일 (신호 수에 비례)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557784"/>
            <a:ext cx="8257031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NanumGothic"/>
              </a:rPr>
              <a:t>무료 API + RSS + LLM 분류 조합으로 비용 0원에 100% 자동화.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77824"/>
            <a:ext cx="8686800" cy="3904487"/>
          </a:xfrm>
          <a:prstGeom prst="rect">
            <a:avLst/>
          </a:prstGeom>
          <a:solidFill>
            <a:srgbClr val="F9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92440" cy="3474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백엔드 폴더 생성: mkdir backend &amp;&amp; cd backend &amp;&amp; python3 -m venv .venv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활성화: source .venv/bin/activate &amp;&amp; pip install requests pandas yfinance feedparser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신호 종류 4가지: 정형(API) + 비정형(RSS+LLM) + 거시(FRED) + 타겟(목표 변수)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무료 데이터 소스: Yahoo Finance(주가) + FRED(금리/CPI) + KOSIS(통계청) + RSS(뉴스)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LLM 4-tier fallback: Anthropic → Gemini 2.5 Flash → Groq → 키워드 휴리스틱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.env에 API 키 저장 (KOSIS_API_KEY, GEMINI_API_KEY 등) — 절대 commit 금지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검증: backend/data/historical/&lt;signal&gt;.json 21개 파일 모두 생성 + 53주 데이터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746504"/>
            <a:ext cx="7955279" cy="365760"/>
          </a:xfrm>
        </p:spPr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NanumGothic"/>
              </a:rPr>
              <a:t>06.  AI 예측 모델 - Multi-Model 앙상블 학습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2221992"/>
            <a:ext cx="5724144" cy="832104"/>
          </a:xfrm>
        </p:spPr>
        <p:txBody>
          <a:bodyPr/>
          <a:lstStyle/>
          <a:p>
            <a:pPr algn="l"/>
            <a:r>
              <a:rPr sz="1500">
                <a:solidFill>
                  <a:srgbClr val="3EDAB2"/>
                </a:solidFill>
                <a:latin typeface="NanumGothic"/>
              </a:rPr>
              <a:t>단기 GBR + 중장기 LSTM + Prophet baseline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056" y="228600"/>
            <a:ext cx="8257031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anumGothic"/>
              </a:rPr>
              <a:t>Step 6. AI 예측 모델 - Multi-Model 앙상블 1~2일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557784"/>
            <a:ext cx="8257031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NanumGothic"/>
              </a:rPr>
              <a:t>단일 모델보다 호라이즌별 최적 모델을 자동 선정하는 패턴.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77824"/>
            <a:ext cx="8686800" cy="3904487"/>
          </a:xfrm>
          <a:prstGeom prst="rect">
            <a:avLst/>
          </a:prstGeom>
          <a:solidFill>
            <a:srgbClr val="F9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92440" cy="3474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단기 (1~7주): sklearn GradientBoostingRegressor — Sixsense 사례 MAPE 4.54%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중장기 (8~21주): PyTorch LSTM 2-layer hidden=64 — MAPE 9.19%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Baseline: Prophet — 비교 기준점 (Sixsense는 7.54% baseline)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자동 선정: MAPE 비교 후 호라이즌별 우수 모델 자동 선택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설치: pip install scikit-learn prophet torch (macOS는 brew install libomp 필수)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산출물: forecast_v2_*.json + model_comparison.txt (학습 시간 + MAPE 표)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검증: 단기 MAPE ≤ 7%, 중장기 MAPE ≤ 12% 목표 — 미달 시 신호 더 추가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746504"/>
            <a:ext cx="7955279" cy="365760"/>
          </a:xfrm>
        </p:spPr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NanumGothic"/>
              </a:rPr>
              <a:t>07.  LLM 인사이트 - 신호 + 뉴스 → 자연어 분석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2221992"/>
            <a:ext cx="5724144" cy="832104"/>
          </a:xfrm>
        </p:spPr>
        <p:txBody>
          <a:bodyPr/>
          <a:lstStyle/>
          <a:p>
            <a:pPr algn="l"/>
            <a:r>
              <a:rPr sz="1500">
                <a:solidFill>
                  <a:srgbClr val="3EDAB2"/>
                </a:solidFill>
                <a:latin typeface="NanumGothic"/>
              </a:rPr>
              <a:t>신호+뉴스+모델 결과 → LLM이 한국어 종합 분석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056" y="228600"/>
            <a:ext cx="8257031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anumGothic"/>
              </a:rPr>
              <a:t>Step 7. LLM 인사이트 - 반나절로 의사결정 코멘트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557784"/>
            <a:ext cx="8257031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NanumGothic"/>
              </a:rPr>
              <a:t>단순 숫자를 넘어 '왜 이 가격인가'를 자연어로 설명.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77824"/>
            <a:ext cx="8686800" cy="3904487"/>
          </a:xfrm>
          <a:prstGeom prst="rect">
            <a:avLst/>
          </a:prstGeom>
          <a:solidFill>
            <a:srgbClr val="F9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92440" cy="3474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build_insight.py: 21신호 + 거시 6 + 뉴스 5건 + 모델 결과 → LLM 프롬프트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출력: 300~400자 한국어 분석 + bold 강조 단어 + 핵심 신호 ID + tone(pos/neu/neg)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프롬프트 핵심: 반드시 마침표로 완결 / '...' 같은 미완성 금지 / 280~360자 범위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LLM 4-tier fallback (Step 5와 동일) — Anthropic 1순위, Gemini 2순위 권장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산출물: backend/data/insight/latest.json → frontend data.js의 meta.insight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UI: 카드 8줄 clamp + fade gradient, 클릭 시 hand-off Modal로 전체 팝업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검증: 모든 문장이 주어+서술어로 완결 + 한국어 100% + bold 단어 3개 이상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746504"/>
            <a:ext cx="7955279" cy="365760"/>
          </a:xfrm>
        </p:spPr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NanumGothic"/>
              </a:rPr>
              <a:t>08.  백엔드 API와 수동 갱신 버튼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2221992"/>
            <a:ext cx="5724144" cy="832104"/>
          </a:xfrm>
        </p:spPr>
        <p:txBody>
          <a:bodyPr/>
          <a:lstStyle/>
          <a:p>
            <a:pPr algn="l"/>
            <a:r>
              <a:rPr sz="1500">
                <a:solidFill>
                  <a:srgbClr val="3EDAB2"/>
                </a:solidFill>
                <a:latin typeface="NanumGothic"/>
              </a:rPr>
              <a:t>FastAPI + 풋바 수동 갱신 버튼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056" y="228600"/>
            <a:ext cx="8257031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anumGothic"/>
              </a:rPr>
              <a:t>Step 8. 백엔드 API 와 수동 갱신 - 1일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557784"/>
            <a:ext cx="8257031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NanumGothic"/>
              </a:rPr>
              <a:t>시범 단계는 frontend-only 도 가능, 풀 운영은 backend 필수.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77824"/>
            <a:ext cx="8686800" cy="3904487"/>
          </a:xfrm>
          <a:prstGeom prst="rect">
            <a:avLst/>
          </a:prstGeom>
          <a:solidFill>
            <a:srgbClr val="F9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92440" cy="3474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FastAPI 설치: pip install fastapi uvicorn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main.py: 15개 GET endpoint (snapshot/signals/macro/events/news 등) + CORS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신규 POST /api/refresh: 5단계 파이프라인 백그라운드 실행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실행: .venv/bin/uvicorn app.main:app --port 8000 --reload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프론트엔드 풋바에 수동 갱신 버튼 추가 - 진행률 폴링 + 완료 시 자동 새로고침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운영 시 주의: threading 대신 asyncio.create_task 사용 (--reload 모드와 충돌 방지)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보안: 운영 환경에서는 인증 토큰 + CORS 운영 도메인 추가 필수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746504"/>
            <a:ext cx="7955279" cy="365760"/>
          </a:xfrm>
        </p:spPr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NanumGothic"/>
              </a:rPr>
              <a:t>09.  Vercel + GitHub 시범 배포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2221992"/>
            <a:ext cx="5724144" cy="832104"/>
          </a:xfrm>
        </p:spPr>
        <p:txBody>
          <a:bodyPr/>
          <a:lstStyle/>
          <a:p>
            <a:pPr algn="l"/>
            <a:r>
              <a:rPr sz="1500">
                <a:solidFill>
                  <a:srgbClr val="3EDAB2"/>
                </a:solidFill>
                <a:latin typeface="NanumGothic"/>
              </a:rPr>
              <a:t>GitHub push 한 번으로 자동 배포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056" y="228600"/>
            <a:ext cx="8257031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anumGothic"/>
              </a:rPr>
              <a:t>Step 9. Vercel + GitHub 시범 배포 - 30분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557784"/>
            <a:ext cx="8257031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NanumGothic"/>
              </a:rPr>
              <a:t>5명 협업 검토용 frontend-only 정적 호스팅. 무료 + HTTPS 자동.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77824"/>
            <a:ext cx="8686800" cy="3904487"/>
          </a:xfrm>
          <a:prstGeom prst="rect">
            <a:avLst/>
          </a:prstGeom>
          <a:solidFill>
            <a:srgbClr val="F9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92440" cy="3474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GitHub 인증: brew install gh &amp;&amp; gh auth login --web (8자리 코드 입력)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vercel.json 작성: framework vite + buildCommand cd frontend &amp;&amp; npm install &amp;&amp; npm run build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.vercelignore: backend/.venv/ + design_handoff/ + docs/ 제외 (배포 크기 최소화)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git push: git remote add origin https://github.com/&lt;user&gt;/&lt;repo&gt; &amp;&amp; git push -u origin main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Vercel 배포: npx vercel --prod --yes --name &lt;project-lowercase&gt;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검증: HTTPS URL HTTP 200 + title 표시 + 14화면 모두 작동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자동 재배포: GitHub webhook 자동 등록 - 향후 git push 시 자동 빌드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746504"/>
            <a:ext cx="7955279" cy="365760"/>
          </a:xfrm>
        </p:spPr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NanumGothic"/>
              </a:rPr>
              <a:t>10.  협업 운영과 본격 운영 격차 인식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2221992"/>
            <a:ext cx="5724144" cy="832104"/>
          </a:xfrm>
        </p:spPr>
        <p:txBody>
          <a:bodyPr/>
          <a:lstStyle/>
          <a:p>
            <a:pPr algn="l"/>
            <a:r>
              <a:rPr sz="1500">
                <a:solidFill>
                  <a:srgbClr val="3EDAB2"/>
                </a:solidFill>
                <a:latin typeface="NanumGothic"/>
              </a:rPr>
              <a:t>조원 5명과 함께 검토 + 운영 격차 인식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056" y="228600"/>
            <a:ext cx="8257031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anumGothic"/>
              </a:rPr>
              <a:t>Step 10. 협업 운영 - 무한 반복 가능한 사이클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557784"/>
            <a:ext cx="8257031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NanumGothic"/>
              </a:rPr>
              <a:t>시범 단계의 한계를 인식하고 본격 운영 시 P0/P1 처리.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77824"/>
            <a:ext cx="8686800" cy="3904487"/>
          </a:xfrm>
          <a:prstGeom prst="rect">
            <a:avLst/>
          </a:prstGeom>
          <a:solidFill>
            <a:srgbClr val="F9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92440" cy="3474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공유: Vercel 배포 URL 을 카톡/Slack 에 공유 - OG 메타로 카드 자동 표시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피드백: GitHub Issues 또는 한 화면 캡처 + 의견 - 즉시 commit/push 반영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데이터 갱신: 로컬 CLI 5단계 실행 → git push → Vercel 자동 재배포 (~2분)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본격 운영 P0: 인증(Supabase Auth) + cron 자동 갱신 + backend 호스팅(Railway)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본격 운영 P1: API 운영 도메인 CORS + LLM 비용 안정화 (유료 활성)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FAQ Q1: 다크 모드 안 됨? → app.jsx TWEAK_DEFAULTS theme 'dark' 확인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FAQ Q2: news 영문 그대로? → korean_title() 매핑 60개 키워드 적용 확인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746504"/>
            <a:ext cx="7955279" cy="365760"/>
          </a:xfrm>
        </p:spPr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NanumGothic"/>
              </a:rPr>
              <a:t>11.  부록 1 - 반드시 피해야 할 실수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2221992"/>
            <a:ext cx="5724144" cy="832104"/>
          </a:xfrm>
        </p:spPr>
        <p:txBody>
          <a:bodyPr/>
          <a:lstStyle/>
          <a:p>
            <a:pPr algn="l"/>
            <a:r>
              <a:rPr sz="1500">
                <a:solidFill>
                  <a:srgbClr val="3EDAB2"/>
                </a:solidFill>
                <a:latin typeface="NanumGothic"/>
              </a:rPr>
              <a:t>실수 회피 체크리스트 - 시간 낭비를 줄여주는 6 항목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056" y="228600"/>
            <a:ext cx="8257031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anumGothic"/>
              </a:rPr>
              <a:t>부록 1. 반드시 피해야 할 실수 - 6가지 안티패턴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557784"/>
            <a:ext cx="8257031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NanumGothic"/>
              </a:rPr>
              <a:t>Sixsense 제작 과정에서 실제로 겪고 되돌린 사례 모음.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77824"/>
            <a:ext cx="8686800" cy="3904487"/>
          </a:xfrm>
          <a:prstGeom prst="rect">
            <a:avLst/>
          </a:prstGeom>
          <a:solidFill>
            <a:srgbClr val="F9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92440" cy="3474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1. Plotly 등 외부 라이브러리로 별도 HTML 만들지 말 것 — hand-off SSOT 깨짐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2. hand-off UI 무시하고 TypeScript 컴포넌트 쇼케이스 새로 만들지 말 것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3. Anthropic 크레딧 부족? Gemini fallback 미리 4-tier 설정 (Anthropic+Gemini+Groq+휴리스틱)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4. news/events 영문 그대로 표시? korean_title() KEYWORD_MAP 60개 매핑 필수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5. END = '2026-04-30' 같은 날짜 하드코딩? date.today() 동적화로 신선도 보장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6. uvicorn --reload + threading 조합 위험 — 운영 시 asyncio.create_task 대체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공통: 사용자가 캡처한 UI와 일치하지 않으면 반드시 화면 너비 + 미디어 쿼리 확인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746504"/>
            <a:ext cx="7955279" cy="365760"/>
          </a:xfrm>
        </p:spPr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NanumGothic"/>
              </a:rPr>
              <a:t>12.  부록 2 - 다른 도메인 응용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2221992"/>
            <a:ext cx="5724144" cy="832104"/>
          </a:xfrm>
        </p:spPr>
        <p:txBody>
          <a:bodyPr/>
          <a:lstStyle/>
          <a:p>
            <a:pPr algn="l"/>
            <a:r>
              <a:rPr sz="1500">
                <a:solidFill>
                  <a:srgbClr val="3EDAB2"/>
                </a:solidFill>
                <a:latin typeface="NanumGothic"/>
              </a:rPr>
              <a:t>DRAM 가격 외 다른 도메인에 동일 패턴 적용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056" y="228600"/>
            <a:ext cx="8257031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anumGothic"/>
              </a:rPr>
              <a:t>부록 2. 다른 도메인 응용 - 동일 프레임워크 재사용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557784"/>
            <a:ext cx="8257031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NanumGothic"/>
              </a:rPr>
              <a:t>신호 종류만 바꿔도 PRD → Hand-off → 데이터 → Multi-Model → LLM 그대로.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77824"/>
            <a:ext cx="8686800" cy="3904487"/>
          </a:xfrm>
          <a:prstGeom prst="rect">
            <a:avLst/>
          </a:prstGeom>
          <a:solidFill>
            <a:srgbClr val="F9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92440" cy="3474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부동산 가격: 금리 + 입주물량 + 거래량 + 인허가 + 실거래가 + 부동산 뉴스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환율 예측: 무역수지 + 외환보유고 + Fed 금리 + CPI + 유가 + 중앙은행 코멘트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매출 예측: 캘린더(요일/공휴일) + 날씨 + SNS 멘션 + 할인행사 + 경쟁사 가격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수요 예측: PMI + 재고/출하 + 원자재 + 환율 + 산업별 뉴스 감성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주가 예측: 실적 + ESG 점수 + 애널리스트 컨센서스 + 거시 + 산업 뉴스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공통: 21신호 = 정형 7 + 비정형 7 + 거시 6 + 타겟 1 패턴 그대로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1C35"/>
                </a:solidFill>
                <a:latin typeface="NanumGothic"/>
              </a:rPr>
              <a:t>●  예측 모델: 단기는 트리(GBR/XGBoost), 중장기는 시계열 딥러닝(LSTM/TFT) 검증된 조합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755648"/>
            <a:ext cx="2724912" cy="5852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03120" y="2670048"/>
            <a:ext cx="493776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2700">
                <a:solidFill>
                  <a:srgbClr val="FFFFFF"/>
                </a:solidFill>
                <a:latin typeface="Spectral"/>
              </a:rPr>
              <a:t>The Platform For AI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6816" y="3136392"/>
            <a:ext cx="5230368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500">
                <a:solidFill>
                  <a:srgbClr val="3EDAB2"/>
                </a:solidFill>
                <a:latin typeface="NanumGothic"/>
              </a:rPr>
              <a:t>Connecting people, intelligence and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4837176"/>
            <a:ext cx="128016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800">
                <a:solidFill>
                  <a:srgbClr val="9DAEAD"/>
                </a:solidFill>
                <a:latin typeface="Roboto"/>
              </a:rPr>
              <a:t>©2026 Dataiku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5808" y="4837176"/>
            <a:ext cx="128016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800">
                <a:solidFill>
                  <a:srgbClr val="9DAEAD"/>
                </a:solidFill>
                <a:latin typeface="Roboto"/>
              </a:rPr>
              <a:t>dataiku.com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4837176"/>
            <a:ext cx="128016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800">
                <a:solidFill>
                  <a:srgbClr val="9DAEAD"/>
                </a:solidFill>
                <a:latin typeface="Roboto"/>
              </a:rPr>
              <a:t>contact@dataiku.com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2936" y="4837176"/>
            <a:ext cx="128016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800">
                <a:solidFill>
                  <a:srgbClr val="9DAEAD"/>
                </a:solidFill>
                <a:latin typeface="Roboto"/>
              </a:rP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7256" y="4837176"/>
            <a:ext cx="128016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800">
                <a:solidFill>
                  <a:srgbClr val="9DAEAD"/>
                </a:solidFill>
                <a:latin typeface="Roboto"/>
              </a:rPr>
              <a:t>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4184" y="4837176"/>
            <a:ext cx="128016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800">
                <a:solidFill>
                  <a:srgbClr val="9DAEAD"/>
                </a:solidFill>
                <a:latin typeface="Roboto"/>
              </a:rPr>
              <a:t>Youtube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4837176"/>
            <a:ext cx="128016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800">
                <a:solidFill>
                  <a:srgbClr val="9DAEAD"/>
                </a:solidFill>
                <a:latin typeface="Roboto"/>
              </a:rPr>
              <a:t>Facebook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5080">
            <a:solidFill>
              <a:srgbClr val="9DAE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Dataiku Company Template 2026 - KR">
  <a:themeElements>
    <a:clrScheme name="Simple Light">
      <a:dk1>
        <a:srgbClr val="1A1A1A"/>
      </a:dk1>
      <a:lt1>
        <a:srgbClr val="FFFFFF"/>
      </a:lt1>
      <a:dk2>
        <a:srgbClr val="3EDAB2"/>
      </a:dk2>
      <a:lt2>
        <a:srgbClr val="06312E"/>
      </a:lt2>
      <a:accent1>
        <a:srgbClr val="F8F4E4"/>
      </a:accent1>
      <a:accent2>
        <a:srgbClr val="C7FFF1"/>
      </a:accent2>
      <a:accent3>
        <a:srgbClr val="7092F2"/>
      </a:accent3>
      <a:accent4>
        <a:srgbClr val="EDAB4F"/>
      </a:accent4>
      <a:accent5>
        <a:srgbClr val="C6D4FA"/>
      </a:accent5>
      <a:accent6>
        <a:srgbClr val="F8DDB9"/>
      </a:accent6>
      <a:hlink>
        <a:srgbClr val="3EDA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414</Words>
  <Application>Microsoft Macintosh PowerPoint</Application>
  <PresentationFormat>On-screen Show (16:9)</PresentationFormat>
  <Paragraphs>85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Nanum Gothic</vt:lpstr>
      <vt:lpstr>Source Sans Pro</vt:lpstr>
      <vt:lpstr>Roboto Condensed SemiBold</vt:lpstr>
      <vt:lpstr>Spectral</vt:lpstr>
      <vt:lpstr>Roboto Light</vt:lpstr>
      <vt:lpstr>NanumGothic</vt:lpstr>
      <vt:lpstr>Roboto</vt:lpstr>
      <vt:lpstr>Roboto Condensed</vt:lpstr>
      <vt:lpstr>Arial</vt:lpstr>
      <vt:lpstr>Dataiku Company Template 2026 - KR</vt:lpstr>
      <vt:lpstr>AI Agent 도입 전략</vt:lpstr>
      <vt:lpstr>Agenda</vt:lpstr>
      <vt:lpstr>01. Dataiku Introduction</vt:lpstr>
      <vt:lpstr>Dataiku 소개</vt:lpstr>
      <vt:lpstr>End-to-End : 지속 가능하며 컨트롤 가능한 AI 플랫폼 </vt:lpstr>
      <vt:lpstr>엔터프라이즈 AI 에이전트 전략 : 결정론적 프로세스 기반 에이전트</vt:lpstr>
      <vt:lpstr>감사합니다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YoungSeok Kim</cp:lastModifiedBy>
  <cp:revision>10</cp:revision>
  <dcterms:modified xsi:type="dcterms:W3CDTF">2026-05-24T11:23:13Z</dcterms:modified>
</cp:coreProperties>
</file>